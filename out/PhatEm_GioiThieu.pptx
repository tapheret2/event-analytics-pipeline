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0F8FF"/>
                </a:solidFill>
              </a:rPr>
              <a:t>Phát Em</a:t>
            </a:r>
          </a:p>
          <a:p>
            <a:pPr>
              <a:spcBef>
                <a:spcPts val="600"/>
              </a:spcBef>
              <a:defRPr sz="2200">
                <a:solidFill>
                  <a:srgbClr val="B4D2FF"/>
                </a:solidFill>
              </a:defRPr>
            </a:pPr>
            <a:r>
              <a:t>Trợ lý AI của Phát — làm việc theo kiểu: rõ việc → làm được → báo lại</a:t>
            </a:r>
          </a:p>
        </p:txBody>
      </p:sp>
      <p:pic>
        <p:nvPicPr>
          <p:cNvPr id="3" name="Picture 2" descr="pha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63040"/>
            <a:ext cx="4389120" cy="4389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691640"/>
            <a:ext cx="7132320" cy="73152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0BEDC"/>
                </a:solidFill>
              </a:defRPr>
            </a:pPr>
            <a:r>
              <a:t>OpenClaw • deck auto-generated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0F8FF"/>
                </a:solidFill>
              </a:rPr>
              <a:t>Mình làm được gì?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6583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8FF"/>
                </a:solidFill>
              </a:defRPr>
            </a:pPr>
            <a:r>
              <a:t>Những việc mình hay giúp Phát:</a:t>
            </a:r>
          </a:p>
          <a:p>
            <a:pPr>
              <a:spcBef>
                <a:spcPts val="600"/>
              </a:spcBef>
              <a:defRPr sz="2000">
                <a:solidFill>
                  <a:srgbClr val="DCEBFF"/>
                </a:solidFill>
              </a:defRPr>
            </a:pPr>
            <a:r>
              <a:t>Theo dõi deadline (Moodle) → sync Notion → gửi digest 6:00 &amp; 18:00</a:t>
            </a:r>
          </a:p>
          <a:p>
            <a:pPr>
              <a:spcBef>
                <a:spcPts val="600"/>
              </a:spcBef>
              <a:defRPr sz="2000">
                <a:solidFill>
                  <a:srgbClr val="DCEBFF"/>
                </a:solidFill>
              </a:defRPr>
            </a:pPr>
            <a:r>
              <a:t>Lộ trình học (DE): SQL, data modeling, pipeline, best practices</a:t>
            </a:r>
          </a:p>
          <a:p>
            <a:pPr>
              <a:spcBef>
                <a:spcPts val="600"/>
              </a:spcBef>
              <a:defRPr sz="2000">
                <a:solidFill>
                  <a:srgbClr val="DCEBFF"/>
                </a:solidFill>
              </a:defRPr>
            </a:pPr>
            <a:r>
              <a:t>Tự động hóa lặt vặt: email, file, script, checklist</a:t>
            </a:r>
          </a:p>
          <a:p>
            <a:pPr>
              <a:spcBef>
                <a:spcPts val="600"/>
              </a:spcBef>
              <a:defRPr sz="2000">
                <a:solidFill>
                  <a:srgbClr val="DCEBFF"/>
                </a:solidFill>
              </a:defRPr>
            </a:pPr>
            <a:r>
              <a:t>Giải thích vấn đề: rõ ràng, có ví dụ, có bước làm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2011680"/>
            <a:ext cx="3291840" cy="777240"/>
          </a:xfrm>
          <a:prstGeom prst="roundRect">
            <a:avLst/>
          </a:prstGeom>
          <a:solidFill>
            <a:srgbClr val="14223C"/>
          </a:solidFill>
          <a:ln>
            <a:solidFill>
              <a:srgbClr val="4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E6F5FF"/>
                </a:solidFill>
              </a:defRPr>
            </a:pPr>
            <a:r>
              <a:t>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108960"/>
            <a:ext cx="3291840" cy="777240"/>
          </a:xfrm>
          <a:prstGeom prst="roundRect">
            <a:avLst/>
          </a:prstGeom>
          <a:solidFill>
            <a:srgbClr val="14223C"/>
          </a:solidFill>
          <a:ln>
            <a:solidFill>
              <a:srgbClr val="4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E6F5FF"/>
                </a:solidFill>
              </a:defRPr>
            </a:pPr>
            <a:r>
              <a:t>Notion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4206240"/>
            <a:ext cx="3291840" cy="777240"/>
          </a:xfrm>
          <a:prstGeom prst="roundRect">
            <a:avLst/>
          </a:prstGeom>
          <a:solidFill>
            <a:srgbClr val="14223C"/>
          </a:solidFill>
          <a:ln>
            <a:solidFill>
              <a:srgbClr val="4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E6F5FF"/>
                </a:solidFill>
              </a:defRPr>
            </a:pPr>
            <a:r>
              <a:t>Gmail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5303520"/>
            <a:ext cx="3291840" cy="777240"/>
          </a:xfrm>
          <a:prstGeom prst="roundRect">
            <a:avLst/>
          </a:prstGeom>
          <a:solidFill>
            <a:srgbClr val="14223C"/>
          </a:solidFill>
          <a:ln>
            <a:solidFill>
              <a:srgbClr val="4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E6F5FF"/>
                </a:solidFill>
              </a:defRPr>
            </a:pPr>
            <a:r>
              <a:t>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0BEDC"/>
                </a:solidFill>
              </a:defRPr>
            </a:pPr>
            <a:r>
              <a:t>Phát 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0F8FF"/>
                </a:solidFill>
              </a:rPr>
              <a:t>Cách mình làm việc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6583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8FF"/>
                </a:solidFill>
              </a:defRPr>
            </a:pPr>
            <a:r>
              <a:t>Nguyên tắc:</a:t>
            </a:r>
          </a:p>
          <a:p>
            <a:pPr>
              <a:spcBef>
                <a:spcPts val="600"/>
              </a:spcBef>
              <a:defRPr sz="2000">
                <a:solidFill>
                  <a:srgbClr val="DCEBFF"/>
                </a:solidFill>
              </a:defRPr>
            </a:pPr>
            <a:r>
              <a:t>Không vòng vo: nói thẳng cái gì làm được/cái gì thiếu</a:t>
            </a:r>
          </a:p>
          <a:p>
            <a:pPr>
              <a:spcBef>
                <a:spcPts val="600"/>
              </a:spcBef>
              <a:defRPr sz="2000">
                <a:solidFill>
                  <a:srgbClr val="DCEBFF"/>
                </a:solidFill>
              </a:defRPr>
            </a:pPr>
            <a:r>
              <a:t>Tự động hóa nhưng có kiểm soát: cái gì nhạy cảm sẽ hỏi trước</a:t>
            </a:r>
          </a:p>
          <a:p>
            <a:pPr>
              <a:spcBef>
                <a:spcPts val="600"/>
              </a:spcBef>
              <a:defRPr sz="2000">
                <a:solidFill>
                  <a:srgbClr val="DCEBFF"/>
                </a:solidFill>
              </a:defRPr>
            </a:pPr>
            <a:r>
              <a:t>Ưu tiên bền: ít click UI, dùng overview/index, parse dữ liệu ổn định</a:t>
            </a:r>
          </a:p>
          <a:p>
            <a:pPr>
              <a:spcBef>
                <a:spcPts val="600"/>
              </a:spcBef>
              <a:defRPr sz="2000">
                <a:solidFill>
                  <a:srgbClr val="DCEBFF"/>
                </a:solidFill>
              </a:defRPr>
            </a:pPr>
            <a:r>
              <a:t>Ghi nhớ đúng: nếu sai thì sửa memory ngay</a:t>
            </a:r>
          </a:p>
        </p:txBody>
      </p:sp>
      <p:pic>
        <p:nvPicPr>
          <p:cNvPr id="4" name="Picture 3" descr="pha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103120"/>
            <a:ext cx="356616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0BEDC"/>
                </a:solidFill>
              </a:defRPr>
            </a:pPr>
            <a:r>
              <a:t>Phát 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0F8FF"/>
                </a:solidFill>
              </a:rPr>
              <a:t>Ví dụ thật: Moodle → Notion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6583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8FF"/>
                </a:solidFill>
              </a:defRPr>
            </a:pPr>
            <a:r>
              <a:t>Case: 2 môn trên courses.hcmus.edu.vn</a:t>
            </a:r>
          </a:p>
          <a:p>
            <a:pPr>
              <a:spcBef>
                <a:spcPts val="600"/>
              </a:spcBef>
              <a:defRPr sz="2000">
                <a:solidFill>
                  <a:srgbClr val="DCEBFF"/>
                </a:solidFill>
              </a:defRPr>
            </a:pPr>
            <a:r>
              <a:t>Check assignment/quiz overview</a:t>
            </a:r>
          </a:p>
          <a:p>
            <a:pPr>
              <a:spcBef>
                <a:spcPts val="600"/>
              </a:spcBef>
              <a:defRPr sz="2000">
                <a:solidFill>
                  <a:srgbClr val="DCEBFF"/>
                </a:solidFill>
              </a:defRPr>
            </a:pPr>
            <a:r>
              <a:t>Upsert Notion task (English), Category=Class, Priority=Medium</a:t>
            </a:r>
          </a:p>
          <a:p>
            <a:pPr>
              <a:spcBef>
                <a:spcPts val="600"/>
              </a:spcBef>
              <a:defRPr sz="2000">
                <a:solidFill>
                  <a:srgbClr val="DCEBFF"/>
                </a:solidFill>
              </a:defRPr>
            </a:pPr>
            <a:r>
              <a:t>Gửi digest theo Notion thay vì spam từng bài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074920"/>
            <a:ext cx="10789920" cy="1234440"/>
          </a:xfrm>
          <a:prstGeom prst="roundRect">
            <a:avLst/>
          </a:prstGeom>
          <a:solidFill>
            <a:srgbClr val="14223C"/>
          </a:solidFill>
          <a:ln>
            <a:solidFill>
              <a:srgbClr val="4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E6F5FF"/>
                </a:solidFill>
              </a:defRPr>
            </a:pPr>
            <a:r>
              <a:t>MTH10131 - BTVN#3  |  Due: 2026-03-24 12:00  |  Status: Not started</a:t>
            </a:r>
          </a:p>
          <a:p>
            <a:pPr>
              <a:defRPr sz="1400">
                <a:solidFill>
                  <a:srgbClr val="B4D2FF"/>
                </a:solidFill>
              </a:defRPr>
            </a:pPr>
            <a:r>
              <a:t>Description: exercises 2.6, 2.7, 2.10, 2.11, 2.14, 2.15, 2.16 + Moodle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0BEDC"/>
                </a:solidFill>
              </a:defRPr>
            </a:pPr>
            <a:r>
              <a:t>Phát 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0F8FF"/>
                </a:solidFill>
              </a:rPr>
              <a:t>Để mình chạy mượt, mình cần gì từ Phát?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6583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8FF"/>
                </a:solidFill>
              </a:defRPr>
            </a:pPr>
            <a:r>
              <a:t>Chỉ 3 thứ:</a:t>
            </a:r>
          </a:p>
          <a:p>
            <a:pPr>
              <a:spcBef>
                <a:spcPts val="600"/>
              </a:spcBef>
              <a:defRPr sz="2000">
                <a:solidFill>
                  <a:srgbClr val="DCEBFF"/>
                </a:solidFill>
              </a:defRPr>
            </a:pPr>
            <a:r>
              <a:t>Link/nguồn dữ liệu rõ ràng (Moodle, Drive, GitHub…)</a:t>
            </a:r>
          </a:p>
          <a:p>
            <a:pPr>
              <a:spcBef>
                <a:spcPts val="600"/>
              </a:spcBef>
              <a:defRPr sz="2000">
                <a:solidFill>
                  <a:srgbClr val="DCEBFF"/>
                </a:solidFill>
              </a:defRPr>
            </a:pPr>
            <a:r>
              <a:t>Quy tắc giao tiếp/nhắc nhở (giờ báo, format, mức chi tiết)</a:t>
            </a:r>
          </a:p>
          <a:p>
            <a:pPr>
              <a:spcBef>
                <a:spcPts val="600"/>
              </a:spcBef>
              <a:defRPr sz="2000">
                <a:solidFill>
                  <a:srgbClr val="DCEBFF"/>
                </a:solidFill>
              </a:defRPr>
            </a:pPr>
            <a:r>
              <a:t>Token/API khi cần (Notion token, v.v.) — và rotate khi lỡ lộ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2377440"/>
            <a:ext cx="731520" cy="731520"/>
          </a:xfrm>
          <a:prstGeom prst="ellipse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2377440"/>
            <a:ext cx="731520" cy="731520"/>
          </a:xfrm>
          <a:prstGeom prst="ellipse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2377440"/>
            <a:ext cx="731520" cy="7315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0BEDC"/>
                </a:solidFill>
              </a:defRPr>
            </a:pPr>
            <a:r>
              <a:t>Phát 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0F8FF"/>
                </a:solidFill>
              </a:rPr>
              <a:t>Ok, giờ mình làm gì tiếp?</a:t>
            </a:r>
          </a:p>
          <a:p>
            <a:pPr>
              <a:spcBef>
                <a:spcPts val="600"/>
              </a:spcBef>
              <a:defRPr sz="2200">
                <a:solidFill>
                  <a:srgbClr val="B4D2FF"/>
                </a:solidFill>
              </a:defRPr>
            </a:pPr>
            <a:r>
              <a:t>Gợi ý: DE roadmap • project • sync Notion • đọc deadline</a:t>
            </a:r>
          </a:p>
        </p:txBody>
      </p:sp>
      <p:pic>
        <p:nvPicPr>
          <p:cNvPr id="3" name="Picture 2" descr="pha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4206240" cy="4206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3657600"/>
            <a:ext cx="7132320" cy="1463040"/>
          </a:xfrm>
          <a:prstGeom prst="roundRect">
            <a:avLst/>
          </a:prstGeom>
          <a:solidFill>
            <a:srgbClr val="14223C"/>
          </a:solidFill>
          <a:ln>
            <a:solidFill>
              <a:srgbClr val="4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E6F5FF"/>
                </a:solidFill>
              </a:defRPr>
            </a:pPr>
            <a:r>
              <a:t>Nhắn mình kiểu: </a:t>
            </a:r>
          </a:p>
          <a:p>
            <a:pPr>
              <a:defRPr sz="1800">
                <a:solidFill>
                  <a:srgbClr val="E6F5FF"/>
                </a:solidFill>
              </a:defRPr>
            </a:pPr>
            <a:r>
              <a:t>• 'làm roadmap DE 8 tuần'</a:t>
            </a:r>
          </a:p>
          <a:p>
            <a:pPr>
              <a:defRPr sz="1800">
                <a:solidFill>
                  <a:srgbClr val="E6F5FF"/>
                </a:solidFill>
              </a:defRPr>
            </a:pPr>
            <a:r>
              <a:t>• 'tạo project ETL + Docker'</a:t>
            </a:r>
          </a:p>
          <a:p>
            <a:pPr>
              <a:defRPr sz="1800">
                <a:solidFill>
                  <a:srgbClr val="E6F5FF"/>
                </a:solidFill>
              </a:defRPr>
            </a:pPr>
            <a:r>
              <a:t>• 'tối nay check Notion digest'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0BEDC"/>
                </a:solidFill>
              </a:defRPr>
            </a:pPr>
            <a:r>
              <a:t>Phát 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